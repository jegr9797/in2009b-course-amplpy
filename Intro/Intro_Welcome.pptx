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9" r:id="rId3"/>
    <p:sldId id="270" r:id="rId4"/>
    <p:sldId id="271" r:id="rId5"/>
    <p:sldId id="273" r:id="rId6"/>
    <p:sldId id="274" r:id="rId7"/>
    <p:sldId id="276" r:id="rId8"/>
    <p:sldId id="277" r:id="rId9"/>
    <p:sldId id="278" r:id="rId10"/>
    <p:sldId id="279" r:id="rId11"/>
    <p:sldId id="280" r:id="rId12"/>
    <p:sldId id="2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4FA86-A9CC-4124-AB72-3751F45D262B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48A308-54B6-4FFF-BE9F-9BE634DB56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1557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CF4AF-BC6F-7F47-BAEA-D3409858FC91}" type="slidenum">
              <a:rPr lang="en-MX" smtClean="0"/>
              <a:t>2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342865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DF817-A4B3-E4B5-7887-90AFAB14D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B282D-D842-7193-11AE-F7B00A535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71F21-962D-4E7F-45FB-BADF8EC1E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DDA86-1A72-1AEF-A442-3F2A620D5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CF4AF-BC6F-7F47-BAEA-D3409858FC91}" type="slidenum">
              <a:rPr lang="en-MX" smtClean="0"/>
              <a:t>3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117653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CCD59-E4D0-1398-0C20-DE5702C13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3B64D-FCB0-B833-13BE-A6FA93ECC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597C2-2515-95EE-7B37-A2B423DB1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B8DF8-C146-FB77-3C79-14670D81B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CF4AF-BC6F-7F47-BAEA-D3409858FC91}" type="slidenum">
              <a:rPr lang="en-MX" smtClean="0"/>
              <a:t>4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343159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37D32-1D47-29EB-5E44-6F7958530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74E7A-ACC6-B6B8-39AB-8DADB52F5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930FE-4DA4-1D0B-C521-B9A12BB0A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AB692-71CE-917B-E402-198471865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CF4AF-BC6F-7F47-BAEA-D3409858FC91}" type="slidenum">
              <a:rPr lang="en-MX" smtClean="0"/>
              <a:t>5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59346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59114-6B73-7CC7-3752-734F9208B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E2558E-FE50-AFCC-DB97-EB1F25623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02D429-E760-A2D1-9FC5-6E26F00A2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3E837-CC25-4B3E-8A54-296D24B56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CF4AF-BC6F-7F47-BAEA-D3409858FC91}" type="slidenum">
              <a:rPr lang="en-MX" smtClean="0"/>
              <a:t>6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203401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BD688-D121-4BDF-7EC7-EE51FEDF6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FC1D22-834A-F17B-E54D-C7598470F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42B2E-0BF5-5E12-2F1D-390D08253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7C857-B738-80A4-3994-4BDAB6C87E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CF4AF-BC6F-7F47-BAEA-D3409858FC91}" type="slidenum">
              <a:rPr lang="en-MX" smtClean="0"/>
              <a:t>7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007610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84642-5BD3-D849-A6F8-4EC32049C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AF278-B526-2CC1-44A5-5D1CD4D5B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FB81C-30F3-55E0-1D16-097CA87BE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AC85D-0825-84C5-DF78-DC8174CE75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CF4AF-BC6F-7F47-BAEA-D3409858FC91}" type="slidenum">
              <a:rPr lang="en-MX" smtClean="0"/>
              <a:t>8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348526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F22B8-4F15-657E-9C61-CB8540120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A2EFA-FC68-FC95-AF92-5DFD6E475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7B3B7-720E-01BC-09AC-402D3D3A0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B47FF-2BF7-8168-EF28-E83928F70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CF4AF-BC6F-7F47-BAEA-D3409858FC91}" type="slidenum">
              <a:rPr lang="en-MX" smtClean="0"/>
              <a:t>9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937314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C901D-66EF-35C7-11CC-69F041BC8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FFC7B-DB62-05DC-FB38-2301292A6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FC4425-BD69-DBB4-FD53-C795E7318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44864-057F-42D8-1E8F-5C7047A61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CF4AF-BC6F-7F47-BAEA-D3409858FC91}" type="slidenum">
              <a:rPr lang="en-MX" smtClean="0"/>
              <a:t>10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050239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4BEFD-EF99-EF31-39AE-31E4B4F2B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E12C1-6EE4-330B-E6A6-156F0FDD3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20531-FFF3-CA6A-77E3-BE393725A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1551B-FC74-17EA-A1D0-E2A99D629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CF4AF-BC6F-7F47-BAEA-D3409858FC91}" type="slidenum">
              <a:rPr lang="en-MX" smtClean="0"/>
              <a:t>11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611210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A0B7-6260-3160-1E81-66E395498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8A565-8063-AF96-8CF3-0ACE4E46A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01A24-9FE5-984A-1E1F-62802026F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25FA7-90CF-BF51-5393-D1B5FA237E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CF4AF-BC6F-7F47-BAEA-D3409858FC91}" type="slidenum">
              <a:rPr lang="en-MX" smtClean="0"/>
              <a:t>12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8360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0F456-82D2-966F-89B2-640D6DEF5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54819-05AB-A803-8F86-97FBD3091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48B69-0AAF-4412-3A54-1627682E1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96CC-8A45-4DB2-80C0-E7334D78AEA2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E89A3-A0F4-02CD-9456-62B738D4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3C101-C11D-E02E-44AB-054E5CCA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8E7F-67D9-4D0F-81A0-1AD049AFAD3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779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A5D35-E873-83A9-A8F8-5E08FD664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8275E-B74E-19E9-B36B-316976120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B3C8C-85E2-8913-9A5A-4B1147124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96CC-8A45-4DB2-80C0-E7334D78AEA2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269E3-7005-27D1-DAE6-1BB818AA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CF42F-C7E4-AA7F-9D31-6BDEC9E95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8E7F-67D9-4D0F-81A0-1AD049AFAD3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3521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A5FFB-CE53-E2E0-6660-07A4317FD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722E7-8423-CD6A-61A9-E6CCD7922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B495F-A0D2-D95B-D3A3-4EEEE1149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96CC-8A45-4DB2-80C0-E7334D78AEA2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89E06-3865-0B3A-DF6C-45E625A3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3F357-94E0-D0D7-B192-4DC67357A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8E7F-67D9-4D0F-81A0-1AD049AFAD3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1174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B9B3C-3E62-238D-9F16-933F00D02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B2D38-96A7-3080-67B3-433DD5685B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642DA-8C9D-557B-4B6B-1A18F5150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4C629-1774-6B6E-22AC-4B3F0300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96CC-8A45-4DB2-80C0-E7334D78AEA2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5016E-A414-CC6D-10A6-E78387B80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73AF7-4CBB-CFD7-C723-0F36E54C0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8E7F-67D9-4D0F-81A0-1AD049AFAD3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34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9B7C-7FB0-3F2E-596B-0110725BE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B8A44-E385-1B9F-0B25-34F023C79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59BF6-F548-5375-BCC9-707C37B50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954424-53A9-98FC-ECBB-D994248B8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260F3A-7B88-0B2C-15B8-E8B2C7137D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9F8DF6-764E-469C-C46A-B066DA39C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96CC-8A45-4DB2-80C0-E7334D78AEA2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982194-9424-ADEB-CE04-F6524E703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DBA09A-D545-9EA7-150F-2EB506C97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8E7F-67D9-4D0F-81A0-1AD049AFAD3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3872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D371-CD14-FCE7-27FA-D57DEFF3C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0B27F-E4C4-A787-A5ED-72B2AA942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96CC-8A45-4DB2-80C0-E7334D78AEA2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C12769-1E7C-E662-B68F-48E202E2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8E445-FD97-4740-D00F-FC1CCEC0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8E7F-67D9-4D0F-81A0-1AD049AFAD3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729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567845-DB82-3A57-598F-9F62FEF09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96CC-8A45-4DB2-80C0-E7334D78AEA2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6329B-479C-B6FE-030C-EC74911E9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49F1D-49DB-5906-39C9-3413E09C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8E7F-67D9-4D0F-81A0-1AD049AFAD3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062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F2238-6CA8-0053-B66B-5D05E77B3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1B86C-6EA1-3D4C-2197-D018A87D1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1DB51-F81A-8216-E4BE-C0207111B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A63CF-4B0A-7DEC-4FFA-0D6430056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96CC-8A45-4DB2-80C0-E7334D78AEA2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06FBC-6387-E06D-0888-ED38C9657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399F9-411D-DAA4-B151-4048CA8A9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8E7F-67D9-4D0F-81A0-1AD049AFAD3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367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A4C0-5093-845D-BADD-2DEFEABD6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0F9463-F1C7-A627-7DF2-BF8DF8A3CC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AEAB6-69F4-3ED7-2283-85DDD5EF8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B5B2E-813D-930F-1A73-5A605830F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96CC-8A45-4DB2-80C0-E7334D78AEA2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4A974-F19E-3583-649A-0FED75CE6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C0E89-9D2C-C4E1-049E-7E8223BE1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8E7F-67D9-4D0F-81A0-1AD049AFAD3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058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F0092-E596-A61E-D589-34403162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070B05-65D2-9AF8-1882-ACB143140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77E9B-57FF-B35F-5DC9-2F42539AA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96CC-8A45-4DB2-80C0-E7334D78AEA2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71325-CFBF-E7B4-2BDF-E0497C187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3D73C-B9A2-884C-1DF4-96C9A654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8E7F-67D9-4D0F-81A0-1AD049AFAD3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851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5202E8-02FA-B04B-C6EB-20DD5D328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6BE43-940B-C243-9079-C1E3B2378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13721-C52E-58A1-CCF3-DE2816217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96CC-8A45-4DB2-80C0-E7334D78AEA2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28811-9B2C-58ED-EC0D-68A404E50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D4DBB-5C85-2A20-084F-2223C4E8C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8E7F-67D9-4D0F-81A0-1AD049AFAD3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646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4652AE-D0CC-99CD-5DD4-F546C223E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BC218-7CEE-72E9-9909-13D7E4BCF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4AB2D-B0B2-54C8-9700-0344D773B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A596CC-8A45-4DB2-80C0-E7334D78AEA2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A1065-1701-A80C-F8AE-39DFA59A3D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523F7-ACCC-6A71-E388-5D2AA6FCE1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208E7F-67D9-4D0F-81A0-1AD049AFAD3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397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3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emmanuel.gr@tec.mx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3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oYcRp_8VHjE" TargetMode="External"/><Relationship Id="rId3" Type="http://schemas.openxmlformats.org/officeDocument/2006/relationships/image" Target="../media/image3.jpeg"/><Relationship Id="rId7" Type="http://schemas.openxmlformats.org/officeDocument/2006/relationships/hyperlink" Target="https://www.youtube.com/watch?v=5dYE5vy6sM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0.gif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hyperlink" Target="https://www.youtube.com/watch?v=MGNvEZZ3qPw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sky, grass&#10;&#10;Description automatically generated">
            <a:extLst>
              <a:ext uri="{FF2B5EF4-FFF2-40B4-BE49-F238E27FC236}">
                <a16:creationId xmlns:a16="http://schemas.microsoft.com/office/drawing/2014/main" id="{76E228AB-04AD-05F9-906D-B397CFC968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7943" y="0"/>
            <a:ext cx="11234057" cy="6858000"/>
          </a:xfrm>
          <a:prstGeom prst="rect">
            <a:avLst/>
          </a:prstGeom>
        </p:spPr>
      </p:pic>
      <p:sp>
        <p:nvSpPr>
          <p:cNvPr id="8" name="Google Shape;365;p11">
            <a:extLst>
              <a:ext uri="{FF2B5EF4-FFF2-40B4-BE49-F238E27FC236}">
                <a16:creationId xmlns:a16="http://schemas.microsoft.com/office/drawing/2014/main" id="{4FC7C2BD-0719-6E49-582E-3A609705A528}"/>
              </a:ext>
            </a:extLst>
          </p:cNvPr>
          <p:cNvSpPr/>
          <p:nvPr/>
        </p:nvSpPr>
        <p:spPr>
          <a:xfrm>
            <a:off x="-2481" y="0"/>
            <a:ext cx="1331219" cy="6858000"/>
          </a:xfrm>
          <a:prstGeom prst="rect">
            <a:avLst/>
          </a:prstGeom>
          <a:solidFill>
            <a:srgbClr val="0000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58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65;p11">
            <a:extLst>
              <a:ext uri="{FF2B5EF4-FFF2-40B4-BE49-F238E27FC236}">
                <a16:creationId xmlns:a16="http://schemas.microsoft.com/office/drawing/2014/main" id="{4E805631-9B76-AF41-B9FC-0EB7BCB551ED}"/>
              </a:ext>
            </a:extLst>
          </p:cNvPr>
          <p:cNvSpPr/>
          <p:nvPr/>
        </p:nvSpPr>
        <p:spPr>
          <a:xfrm>
            <a:off x="3786693" y="4023360"/>
            <a:ext cx="8405308" cy="2753958"/>
          </a:xfrm>
          <a:prstGeom prst="rect">
            <a:avLst/>
          </a:prstGeom>
          <a:solidFill>
            <a:srgbClr val="000033">
              <a:alpha val="745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58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0E4625-07CB-2E62-D854-C07A2979E10C}"/>
              </a:ext>
            </a:extLst>
          </p:cNvPr>
          <p:cNvSpPr txBox="1"/>
          <p:nvPr/>
        </p:nvSpPr>
        <p:spPr>
          <a:xfrm>
            <a:off x="3846965" y="4201559"/>
            <a:ext cx="840530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-50" noProof="0" dirty="0">
                <a:solidFill>
                  <a:srgbClr val="F4F4F6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IN2009B </a:t>
            </a:r>
          </a:p>
          <a:p>
            <a:r>
              <a:rPr lang="en-US" sz="3200" b="1" spc="-50" noProof="0" dirty="0">
                <a:solidFill>
                  <a:srgbClr val="F4F4F6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Improvement of an Organization’s Value Chain</a:t>
            </a:r>
          </a:p>
          <a:p>
            <a:r>
              <a:rPr lang="en-US" sz="3200" b="1" spc="-50" noProof="0" dirty="0">
                <a:solidFill>
                  <a:srgbClr val="F4F4F6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Summer 2026</a:t>
            </a:r>
            <a:endParaRPr lang="en-US" sz="1100" b="1" spc="-50" noProof="0" dirty="0"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7A18A7-C5A4-3690-9F0E-55026FA17414}"/>
              </a:ext>
            </a:extLst>
          </p:cNvPr>
          <p:cNvSpPr txBox="1"/>
          <p:nvPr/>
        </p:nvSpPr>
        <p:spPr>
          <a:xfrm>
            <a:off x="4004344" y="6344344"/>
            <a:ext cx="7715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-50" noProof="0" dirty="0">
                <a:solidFill>
                  <a:srgbClr val="F4F4F6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Emmanuel Gómez </a:t>
            </a:r>
            <a:endParaRPr lang="en-US" sz="800" b="1" spc="-50" noProof="0" dirty="0"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CD60305E-CBC2-77F5-ACC9-4268CC0C709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3791" y="300468"/>
            <a:ext cx="4526348" cy="139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994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5;p11">
            <a:extLst>
              <a:ext uri="{FF2B5EF4-FFF2-40B4-BE49-F238E27FC236}">
                <a16:creationId xmlns:a16="http://schemas.microsoft.com/office/drawing/2014/main" id="{C8FA62EB-75B2-13E5-8214-E18752781177}"/>
              </a:ext>
            </a:extLst>
          </p:cNvPr>
          <p:cNvSpPr/>
          <p:nvPr/>
        </p:nvSpPr>
        <p:spPr>
          <a:xfrm>
            <a:off x="1328738" y="0"/>
            <a:ext cx="10863262" cy="6858000"/>
          </a:xfrm>
          <a:prstGeom prst="rect">
            <a:avLst/>
          </a:prstGeom>
          <a:solidFill>
            <a:srgbClr val="0000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58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A picture containing outdoor, sky, grass&#10;&#10;Description automatically generated">
            <a:extLst>
              <a:ext uri="{FF2B5EF4-FFF2-40B4-BE49-F238E27FC236}">
                <a16:creationId xmlns:a16="http://schemas.microsoft.com/office/drawing/2014/main" id="{C21F4687-7F61-5E64-B790-CC9D0D8A404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2873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724C5C-71E0-D0BB-230D-3983DF62E218}"/>
              </a:ext>
            </a:extLst>
          </p:cNvPr>
          <p:cNvSpPr txBox="1"/>
          <p:nvPr/>
        </p:nvSpPr>
        <p:spPr>
          <a:xfrm>
            <a:off x="1702594" y="651743"/>
            <a:ext cx="7715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50" noProof="0" dirty="0">
                <a:solidFill>
                  <a:srgbClr val="F4F4F6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| Agenda</a:t>
            </a:r>
            <a:endParaRPr lang="en-US" sz="1200" b="1" spc="-50" noProof="0" dirty="0"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C5E859-A7BE-26AA-676E-DFB455BFCCCE}"/>
              </a:ext>
            </a:extLst>
          </p:cNvPr>
          <p:cNvSpPr txBox="1"/>
          <p:nvPr/>
        </p:nvSpPr>
        <p:spPr>
          <a:xfrm>
            <a:off x="1740693" y="1949817"/>
            <a:ext cx="900138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spc="-8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Intro</a:t>
            </a:r>
            <a:endParaRPr lang="en-US" sz="2800" b="1" spc="-80" noProof="0" dirty="0">
              <a:solidFill>
                <a:schemeClr val="bg1"/>
              </a:solidFill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spc="-80" noProof="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M4-M5</a:t>
            </a:r>
            <a:endParaRPr lang="en-US" sz="2800" spc="-80" noProof="0" dirty="0">
              <a:solidFill>
                <a:srgbClr val="F4F4F6"/>
              </a:solidFill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spc="-8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Syllabus</a:t>
            </a:r>
            <a:endParaRPr lang="en-US" sz="2000" spc="-50" noProof="0" dirty="0">
              <a:solidFill>
                <a:srgbClr val="F4F4F6"/>
              </a:solidFill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spc="-50" noProof="0" dirty="0">
              <a:solidFill>
                <a:srgbClr val="F4F4F6"/>
              </a:solidFill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F784CB5B-FED7-8BBC-D552-81239A38A8D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2079" y="214744"/>
            <a:ext cx="1173697" cy="36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78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B4AC7-CA83-35FA-527E-57DF09FD2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5;p11">
            <a:extLst>
              <a:ext uri="{FF2B5EF4-FFF2-40B4-BE49-F238E27FC236}">
                <a16:creationId xmlns:a16="http://schemas.microsoft.com/office/drawing/2014/main" id="{B52BF697-65B7-384A-741B-4CBCEF404C26}"/>
              </a:ext>
            </a:extLst>
          </p:cNvPr>
          <p:cNvSpPr/>
          <p:nvPr/>
        </p:nvSpPr>
        <p:spPr>
          <a:xfrm>
            <a:off x="1328738" y="0"/>
            <a:ext cx="10863262" cy="6858000"/>
          </a:xfrm>
          <a:prstGeom prst="rect">
            <a:avLst/>
          </a:prstGeom>
          <a:solidFill>
            <a:srgbClr val="0000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58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A picture containing outdoor, sky, grass&#10;&#10;Description automatically generated">
            <a:extLst>
              <a:ext uri="{FF2B5EF4-FFF2-40B4-BE49-F238E27FC236}">
                <a16:creationId xmlns:a16="http://schemas.microsoft.com/office/drawing/2014/main" id="{A88E5B75-7A60-7DC8-1576-9EEA09E9274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2873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1C406A-2C15-470A-D628-8F5E3D471F94}"/>
              </a:ext>
            </a:extLst>
          </p:cNvPr>
          <p:cNvSpPr txBox="1"/>
          <p:nvPr/>
        </p:nvSpPr>
        <p:spPr>
          <a:xfrm>
            <a:off x="1702594" y="651743"/>
            <a:ext cx="7715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50" noProof="0" dirty="0">
                <a:solidFill>
                  <a:srgbClr val="F4F4F6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| Intro </a:t>
            </a:r>
            <a:endParaRPr lang="en-US" sz="1200" b="1" spc="-50" noProof="0" dirty="0"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C12F16A7-AAA9-2E3E-D992-434AEF44269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2079" y="214744"/>
            <a:ext cx="1173697" cy="3629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E0F9C2-39F1-661A-E999-86B1DF79C4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728" y="1949817"/>
            <a:ext cx="2655819" cy="26446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80E648-90DA-AF5D-DA17-74EC928A5CC9}"/>
              </a:ext>
            </a:extLst>
          </p:cNvPr>
          <p:cNvSpPr txBox="1"/>
          <p:nvPr/>
        </p:nvSpPr>
        <p:spPr>
          <a:xfrm>
            <a:off x="5088537" y="1949817"/>
            <a:ext cx="5653541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spc="-80" noProof="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José Emmanuel Gómez Rocha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spc="-80" dirty="0" err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PhDc</a:t>
            </a:r>
            <a:r>
              <a:rPr lang="en-US" sz="2800" b="1" spc="-8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 Engineering Sciences</a:t>
            </a:r>
            <a:endParaRPr lang="en-US" sz="2800" spc="-80" noProof="0" dirty="0">
              <a:solidFill>
                <a:srgbClr val="F4F4F6"/>
              </a:solidFill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spc="-80" noProof="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Optimization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spc="-8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Production planning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spc="-80" noProof="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Location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spc="-8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Routing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spc="-80" noProof="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Machine Learning</a:t>
            </a:r>
            <a:endParaRPr lang="en-US" sz="2000" spc="-50" noProof="0" dirty="0">
              <a:solidFill>
                <a:srgbClr val="F4F4F6"/>
              </a:solidFill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spc="-50" noProof="0" dirty="0">
              <a:solidFill>
                <a:srgbClr val="F4F4F6"/>
              </a:solidFill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441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4799F-281C-CD02-8DF2-5DD54BAF1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5;p11">
            <a:extLst>
              <a:ext uri="{FF2B5EF4-FFF2-40B4-BE49-F238E27FC236}">
                <a16:creationId xmlns:a16="http://schemas.microsoft.com/office/drawing/2014/main" id="{1267B66F-9A19-8269-5D0B-E6819D7BB84F}"/>
              </a:ext>
            </a:extLst>
          </p:cNvPr>
          <p:cNvSpPr/>
          <p:nvPr/>
        </p:nvSpPr>
        <p:spPr>
          <a:xfrm>
            <a:off x="1328738" y="0"/>
            <a:ext cx="10863262" cy="6858000"/>
          </a:xfrm>
          <a:prstGeom prst="rect">
            <a:avLst/>
          </a:prstGeom>
          <a:solidFill>
            <a:srgbClr val="0000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58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A picture containing outdoor, sky, grass&#10;&#10;Description automatically generated">
            <a:extLst>
              <a:ext uri="{FF2B5EF4-FFF2-40B4-BE49-F238E27FC236}">
                <a16:creationId xmlns:a16="http://schemas.microsoft.com/office/drawing/2014/main" id="{21A93C24-4F36-46FD-6EAD-5AE05C9D34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2873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04F8F0-4C58-FDB9-F9BE-CE99572F1EE1}"/>
              </a:ext>
            </a:extLst>
          </p:cNvPr>
          <p:cNvSpPr txBox="1"/>
          <p:nvPr/>
        </p:nvSpPr>
        <p:spPr>
          <a:xfrm>
            <a:off x="1702594" y="651743"/>
            <a:ext cx="7715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50" noProof="0" dirty="0">
                <a:solidFill>
                  <a:srgbClr val="F4F4F6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| Intro</a:t>
            </a:r>
            <a:endParaRPr lang="en-US" sz="1200" b="1" spc="-50" noProof="0" dirty="0"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6ED1DB38-1E56-F41E-1AF3-E58814A0741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2079" y="214744"/>
            <a:ext cx="1173697" cy="3629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6A886B-D4D0-30A0-EC07-601594EC44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641" y="1398274"/>
            <a:ext cx="2930040" cy="23544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769F52-B3B1-3EFF-6EC6-7D7987B7AD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2560" y="1398274"/>
            <a:ext cx="4716563" cy="235449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EF45CB8-87D2-773F-6009-1DF951A94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461" y="4199235"/>
            <a:ext cx="3318449" cy="2212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BC1990D-07BE-FC9E-A797-A1D2CDB34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118" y="4290975"/>
            <a:ext cx="3595520" cy="202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0910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53A47-9D53-BFD4-ABB7-6CA2C260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5;p11">
            <a:extLst>
              <a:ext uri="{FF2B5EF4-FFF2-40B4-BE49-F238E27FC236}">
                <a16:creationId xmlns:a16="http://schemas.microsoft.com/office/drawing/2014/main" id="{9383F55C-3AC2-CD14-A4E6-7B5F5A11B4E0}"/>
              </a:ext>
            </a:extLst>
          </p:cNvPr>
          <p:cNvSpPr/>
          <p:nvPr/>
        </p:nvSpPr>
        <p:spPr>
          <a:xfrm>
            <a:off x="1328738" y="0"/>
            <a:ext cx="10863262" cy="6858000"/>
          </a:xfrm>
          <a:prstGeom prst="rect">
            <a:avLst/>
          </a:prstGeom>
          <a:solidFill>
            <a:srgbClr val="0000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58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A picture containing outdoor, sky, grass&#10;&#10;Description automatically generated">
            <a:extLst>
              <a:ext uri="{FF2B5EF4-FFF2-40B4-BE49-F238E27FC236}">
                <a16:creationId xmlns:a16="http://schemas.microsoft.com/office/drawing/2014/main" id="{075C34E1-4131-7071-6FF4-B791AC03239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2873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F6DFD6-0875-BD1F-1E0C-4DD67CA8B935}"/>
              </a:ext>
            </a:extLst>
          </p:cNvPr>
          <p:cNvSpPr txBox="1"/>
          <p:nvPr/>
        </p:nvSpPr>
        <p:spPr>
          <a:xfrm>
            <a:off x="1702594" y="651743"/>
            <a:ext cx="7715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50" noProof="0" dirty="0">
                <a:solidFill>
                  <a:srgbClr val="F4F4F6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| </a:t>
            </a:r>
            <a:r>
              <a:rPr lang="en-US" sz="3600" b="1" spc="-80" noProof="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Main goal IN2009B</a:t>
            </a:r>
            <a:r>
              <a:rPr lang="en-US" sz="3600" b="1" spc="-50" noProof="0" dirty="0">
                <a:solidFill>
                  <a:srgbClr val="F4F4F6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 </a:t>
            </a:r>
            <a:endParaRPr lang="en-US" sz="1200" b="1" spc="-50" noProof="0" dirty="0"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64A3BA32-23B6-255A-BB3F-F72FC67B61D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2079" y="214744"/>
            <a:ext cx="1173697" cy="3629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A56E4-3BAC-1E86-5BA8-C2F0F14BA60C}"/>
              </a:ext>
            </a:extLst>
          </p:cNvPr>
          <p:cNvSpPr txBox="1"/>
          <p:nvPr/>
        </p:nvSpPr>
        <p:spPr>
          <a:xfrm>
            <a:off x="1873737" y="1712255"/>
            <a:ext cx="97732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noProof="0" dirty="0">
                <a:solidFill>
                  <a:schemeClr val="bg1"/>
                </a:solidFill>
              </a:rPr>
              <a:t> Understand modern supply chains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C000"/>
                </a:solidFill>
              </a:rPr>
              <a:t>Solve supply chain and logistics problems</a:t>
            </a:r>
            <a:r>
              <a:rPr lang="en-US" sz="4000" noProof="0" dirty="0">
                <a:solidFill>
                  <a:srgbClr val="FFC000"/>
                </a:solidFill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noProof="0" dirty="0">
                <a:solidFill>
                  <a:srgbClr val="FFC000"/>
                </a:solidFill>
              </a:rPr>
              <a:t>Apply  the knowledge with the trainer partner aka “socio </a:t>
            </a:r>
            <a:r>
              <a:rPr lang="en-US" sz="4000" noProof="0" dirty="0" err="1">
                <a:solidFill>
                  <a:srgbClr val="FFC000"/>
                </a:solidFill>
              </a:rPr>
              <a:t>formador</a:t>
            </a:r>
            <a:r>
              <a:rPr lang="en-US" sz="4000" dirty="0">
                <a:solidFill>
                  <a:srgbClr val="FFC000"/>
                </a:solidFill>
              </a:rPr>
              <a:t>”.</a:t>
            </a:r>
            <a:r>
              <a:rPr lang="en-US" sz="4000" noProof="0" dirty="0">
                <a:solidFill>
                  <a:srgbClr val="FFC000"/>
                </a:solidFill>
              </a:rPr>
              <a:t> </a:t>
            </a:r>
          </a:p>
          <a:p>
            <a:endParaRPr lang="en-US" sz="4000" noProof="0" dirty="0">
              <a:solidFill>
                <a:srgbClr val="FFC000"/>
              </a:solidFill>
            </a:endParaRPr>
          </a:p>
          <a:p>
            <a:endParaRPr lang="en-US" sz="4000" noProof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537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9F9C9-FA7F-ACF5-4055-4C6BCE271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5;p11">
            <a:extLst>
              <a:ext uri="{FF2B5EF4-FFF2-40B4-BE49-F238E27FC236}">
                <a16:creationId xmlns:a16="http://schemas.microsoft.com/office/drawing/2014/main" id="{1C6F8791-BF99-9469-5475-6D9FAEAF2EFC}"/>
              </a:ext>
            </a:extLst>
          </p:cNvPr>
          <p:cNvSpPr/>
          <p:nvPr/>
        </p:nvSpPr>
        <p:spPr>
          <a:xfrm>
            <a:off x="1328738" y="0"/>
            <a:ext cx="10863262" cy="6858000"/>
          </a:xfrm>
          <a:prstGeom prst="rect">
            <a:avLst/>
          </a:prstGeom>
          <a:solidFill>
            <a:srgbClr val="0000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58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A picture containing outdoor, sky, grass&#10;&#10;Description automatically generated">
            <a:extLst>
              <a:ext uri="{FF2B5EF4-FFF2-40B4-BE49-F238E27FC236}">
                <a16:creationId xmlns:a16="http://schemas.microsoft.com/office/drawing/2014/main" id="{5C15C606-8ED0-EC87-A25B-9715A042F9A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2873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47DE94-80D5-A148-45F5-655BD2512A8B}"/>
              </a:ext>
            </a:extLst>
          </p:cNvPr>
          <p:cNvSpPr txBox="1"/>
          <p:nvPr/>
        </p:nvSpPr>
        <p:spPr>
          <a:xfrm>
            <a:off x="1702594" y="651743"/>
            <a:ext cx="7715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50" noProof="0" dirty="0">
                <a:solidFill>
                  <a:srgbClr val="F4F4F6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| </a:t>
            </a:r>
            <a:r>
              <a:rPr lang="en-US" sz="3600" b="1" spc="-80" noProof="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Syllabus</a:t>
            </a:r>
            <a:endParaRPr lang="en-US" sz="1200" b="1" spc="-50" noProof="0" dirty="0"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2A63E062-D1B7-E11D-A6B3-37279F4ABA2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2079" y="214744"/>
            <a:ext cx="1173697" cy="3629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5DDAC1-4B89-35F8-F7B2-F30D5A0DDC59}"/>
              </a:ext>
            </a:extLst>
          </p:cNvPr>
          <p:cNvSpPr txBox="1"/>
          <p:nvPr/>
        </p:nvSpPr>
        <p:spPr>
          <a:xfrm>
            <a:off x="1771420" y="1298074"/>
            <a:ext cx="9633999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noProof="0" dirty="0">
                <a:solidFill>
                  <a:schemeClr val="bg1"/>
                </a:solidFill>
              </a:rPr>
              <a:t>Every Friday the </a:t>
            </a:r>
            <a:r>
              <a:rPr lang="en-US" sz="3200" noProof="0" dirty="0" err="1">
                <a:solidFill>
                  <a:schemeClr val="bg1"/>
                </a:solidFill>
              </a:rPr>
              <a:t>hw</a:t>
            </a:r>
            <a:r>
              <a:rPr lang="en-US" sz="3200" noProof="0" dirty="0">
                <a:solidFill>
                  <a:schemeClr val="bg1"/>
                </a:solidFill>
              </a:rPr>
              <a:t> is evaluated: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200" noProof="0" dirty="0">
                <a:solidFill>
                  <a:schemeClr val="bg1"/>
                </a:solidFill>
              </a:rPr>
              <a:t>You can send whenever you want your </a:t>
            </a:r>
            <a:r>
              <a:rPr lang="en-US" sz="3200" noProof="0" dirty="0" err="1">
                <a:solidFill>
                  <a:schemeClr val="bg1"/>
                </a:solidFill>
              </a:rPr>
              <a:t>hw</a:t>
            </a:r>
            <a:r>
              <a:rPr lang="en-US" sz="3200" noProof="0" dirty="0">
                <a:solidFill>
                  <a:schemeClr val="bg1"/>
                </a:solidFill>
              </a:rPr>
              <a:t>, just remember that </a:t>
            </a:r>
            <a:r>
              <a:rPr lang="en-US" sz="3200" noProof="0" dirty="0" err="1">
                <a:solidFill>
                  <a:schemeClr val="bg1"/>
                </a:solidFill>
              </a:rPr>
              <a:t>th</a:t>
            </a:r>
            <a:r>
              <a:rPr lang="en-US" sz="3200" dirty="0">
                <a:solidFill>
                  <a:schemeClr val="bg1"/>
                </a:solidFill>
              </a:rPr>
              <a:t>e 4</a:t>
            </a:r>
            <a:r>
              <a:rPr lang="en-US" sz="3200" baseline="30000" dirty="0">
                <a:solidFill>
                  <a:schemeClr val="bg1"/>
                </a:solidFill>
              </a:rPr>
              <a:t>th</a:t>
            </a:r>
            <a:r>
              <a:rPr lang="en-US" sz="3200" dirty="0">
                <a:solidFill>
                  <a:schemeClr val="bg1"/>
                </a:solidFill>
              </a:rPr>
              <a:t> Friday of the course is the due date</a:t>
            </a:r>
            <a:r>
              <a:rPr lang="en-US" sz="3200" noProof="0" dirty="0">
                <a:solidFill>
                  <a:schemeClr val="bg1"/>
                </a:solidFill>
              </a:rPr>
              <a:t>.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200" noProof="0" dirty="0">
                <a:solidFill>
                  <a:schemeClr val="bg1"/>
                </a:solidFill>
              </a:rPr>
              <a:t>Every Friday your </a:t>
            </a:r>
            <a:r>
              <a:rPr lang="en-US" sz="3200" noProof="0" dirty="0" err="1">
                <a:solidFill>
                  <a:schemeClr val="bg1"/>
                </a:solidFill>
              </a:rPr>
              <a:t>hw</a:t>
            </a:r>
            <a:r>
              <a:rPr lang="en-US" sz="3200" noProof="0" dirty="0">
                <a:solidFill>
                  <a:schemeClr val="bg1"/>
                </a:solidFill>
              </a:rPr>
              <a:t> grades will be updated according to your progress.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200" noProof="0" dirty="0">
                <a:solidFill>
                  <a:schemeClr val="bg1"/>
                </a:solidFill>
              </a:rPr>
              <a:t>There are not penalties for late deliveries (with exception as the bullet number 1)</a:t>
            </a:r>
            <a:endParaRPr lang="en-US" sz="3200" noProof="0" dirty="0">
              <a:solidFill>
                <a:srgbClr val="FFC000"/>
              </a:solidFill>
            </a:endParaRPr>
          </a:p>
          <a:p>
            <a:endParaRPr lang="en-US" sz="4000" noProof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233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11705-7489-027D-36A6-08A74F849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5;p11">
            <a:extLst>
              <a:ext uri="{FF2B5EF4-FFF2-40B4-BE49-F238E27FC236}">
                <a16:creationId xmlns:a16="http://schemas.microsoft.com/office/drawing/2014/main" id="{F07C03A1-87D7-42CB-4C96-12230314BC83}"/>
              </a:ext>
            </a:extLst>
          </p:cNvPr>
          <p:cNvSpPr/>
          <p:nvPr/>
        </p:nvSpPr>
        <p:spPr>
          <a:xfrm>
            <a:off x="1328738" y="0"/>
            <a:ext cx="10863262" cy="6858000"/>
          </a:xfrm>
          <a:prstGeom prst="rect">
            <a:avLst/>
          </a:prstGeom>
          <a:solidFill>
            <a:srgbClr val="0000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58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A picture containing outdoor, sky, grass&#10;&#10;Description automatically generated">
            <a:extLst>
              <a:ext uri="{FF2B5EF4-FFF2-40B4-BE49-F238E27FC236}">
                <a16:creationId xmlns:a16="http://schemas.microsoft.com/office/drawing/2014/main" id="{A0214371-DB5C-D13A-9100-10F0829B4F1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2873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88FFB8-8D2F-BF38-276E-9253285E7C10}"/>
              </a:ext>
            </a:extLst>
          </p:cNvPr>
          <p:cNvSpPr txBox="1"/>
          <p:nvPr/>
        </p:nvSpPr>
        <p:spPr>
          <a:xfrm>
            <a:off x="1702594" y="651743"/>
            <a:ext cx="7715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50" noProof="0" dirty="0">
                <a:solidFill>
                  <a:srgbClr val="F4F4F6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| </a:t>
            </a:r>
            <a:r>
              <a:rPr lang="en-US" sz="3600" b="1" spc="-80" noProof="0" dirty="0" err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Hw</a:t>
            </a:r>
            <a:r>
              <a:rPr lang="en-US" sz="3600" b="1" spc="-80" noProof="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 requirements</a:t>
            </a:r>
            <a:endParaRPr lang="en-US" sz="1200" b="1" spc="-50" noProof="0" dirty="0"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9887B7DF-0FFB-5679-8A61-6A6627453FA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2079" y="214744"/>
            <a:ext cx="1173697" cy="3629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D584C7-3892-EA5B-2934-923677929C0D}"/>
              </a:ext>
            </a:extLst>
          </p:cNvPr>
          <p:cNvSpPr txBox="1"/>
          <p:nvPr/>
        </p:nvSpPr>
        <p:spPr>
          <a:xfrm>
            <a:off x="1771420" y="1298074"/>
            <a:ext cx="963399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noProof="0" dirty="0">
                <a:solidFill>
                  <a:schemeClr val="bg1"/>
                </a:solidFill>
              </a:rPr>
              <a:t>You must share a google drive folder with me: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200" noProof="0" dirty="0">
                <a:solidFill>
                  <a:schemeClr val="bg1"/>
                </a:solidFill>
              </a:rPr>
              <a:t>LastName(s)_Name(s)_A00…, example: GomezRocha_JoseEmmanuel_A0123456789.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200" noProof="0" dirty="0">
                <a:solidFill>
                  <a:schemeClr val="bg1"/>
                </a:solidFill>
              </a:rPr>
              <a:t>Notebooks are saved with the number of the activity (1, 2,…, N)</a:t>
            </a:r>
          </a:p>
          <a:p>
            <a:r>
              <a:rPr lang="en-US" sz="3200" noProof="0" dirty="0">
                <a:solidFill>
                  <a:schemeClr val="bg1"/>
                </a:solidFill>
              </a:rPr>
              <a:t>Share the drive folder to my email: </a:t>
            </a:r>
            <a:r>
              <a:rPr lang="en-US" sz="5400" noProof="0" dirty="0">
                <a:solidFill>
                  <a:srgbClr val="FFC000"/>
                </a:solidFill>
                <a:hlinkClick r:id="rId5"/>
              </a:rPr>
              <a:t>emmanuel.gr@tec.mx</a:t>
            </a:r>
            <a:endParaRPr lang="en-US" sz="5400" noProof="0" dirty="0">
              <a:solidFill>
                <a:srgbClr val="FFC000"/>
              </a:solidFill>
            </a:endParaRPr>
          </a:p>
          <a:p>
            <a:endParaRPr lang="en-US" sz="4000" noProof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656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7544E-A50B-AD78-8AA8-7ADB6A68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5;p11">
            <a:extLst>
              <a:ext uri="{FF2B5EF4-FFF2-40B4-BE49-F238E27FC236}">
                <a16:creationId xmlns:a16="http://schemas.microsoft.com/office/drawing/2014/main" id="{75C08091-E788-5BD2-4170-BF2526DACB03}"/>
              </a:ext>
            </a:extLst>
          </p:cNvPr>
          <p:cNvSpPr/>
          <p:nvPr/>
        </p:nvSpPr>
        <p:spPr>
          <a:xfrm>
            <a:off x="1328738" y="0"/>
            <a:ext cx="10863262" cy="6858000"/>
          </a:xfrm>
          <a:prstGeom prst="rect">
            <a:avLst/>
          </a:prstGeom>
          <a:solidFill>
            <a:srgbClr val="0000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58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A picture containing outdoor, sky, grass&#10;&#10;Description automatically generated">
            <a:extLst>
              <a:ext uri="{FF2B5EF4-FFF2-40B4-BE49-F238E27FC236}">
                <a16:creationId xmlns:a16="http://schemas.microsoft.com/office/drawing/2014/main" id="{1D0D8A1C-3D47-048C-6FAA-9C33A95EEFE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2873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76C33B-3EDF-2737-B0DD-86F91A4702CA}"/>
              </a:ext>
            </a:extLst>
          </p:cNvPr>
          <p:cNvSpPr txBox="1"/>
          <p:nvPr/>
        </p:nvSpPr>
        <p:spPr>
          <a:xfrm>
            <a:off x="1702594" y="651743"/>
            <a:ext cx="7715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50" noProof="0" dirty="0">
                <a:solidFill>
                  <a:srgbClr val="F4F4F6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| </a:t>
            </a:r>
            <a:r>
              <a:rPr lang="en-US" sz="3600" b="1" spc="-8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Operations Research</a:t>
            </a:r>
            <a:endParaRPr lang="en-US" sz="1200" b="1" spc="-50" noProof="0" dirty="0"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6F0769EC-4F27-5124-ED98-5C999C20EE4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2079" y="214744"/>
            <a:ext cx="1173697" cy="3629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89EA14-A514-DCEC-69A0-B0F4A11EA59E}"/>
              </a:ext>
            </a:extLst>
          </p:cNvPr>
          <p:cNvSpPr txBox="1"/>
          <p:nvPr/>
        </p:nvSpPr>
        <p:spPr>
          <a:xfrm>
            <a:off x="1782553" y="215676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What do Apple, Starbucks, American Airlines, and the NFL have in common?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The use of mathematical optimization.</a:t>
            </a:r>
            <a:endParaRPr lang="es-MX" sz="2400" dirty="0">
              <a:solidFill>
                <a:schemeClr val="bg1"/>
              </a:solidFill>
            </a:endParaRPr>
          </a:p>
        </p:txBody>
      </p:sp>
      <p:pic>
        <p:nvPicPr>
          <p:cNvPr id="9" name="Picture 8" descr="224+ Fotos y Imágenes de Starbucks Gratis · Banco de Fotos Gratis">
            <a:extLst>
              <a:ext uri="{FF2B5EF4-FFF2-40B4-BE49-F238E27FC236}">
                <a16:creationId xmlns:a16="http://schemas.microsoft.com/office/drawing/2014/main" id="{51E3EBF7-4373-0D65-AFB2-DC5A258F10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69" r="1" b="13108"/>
          <a:stretch/>
        </p:blipFill>
        <p:spPr bwMode="auto">
          <a:xfrm>
            <a:off x="9330809" y="2077939"/>
            <a:ext cx="2033590" cy="1996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Guía para entender a la NFL y el Super Bowl | GQ">
            <a:extLst>
              <a:ext uri="{FF2B5EF4-FFF2-40B4-BE49-F238E27FC236}">
                <a16:creationId xmlns:a16="http://schemas.microsoft.com/office/drawing/2014/main" id="{2F5C0426-2478-E5F2-0DB5-32428C5070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8" r="1106" b="1"/>
          <a:stretch/>
        </p:blipFill>
        <p:spPr bwMode="auto">
          <a:xfrm>
            <a:off x="9330812" y="4016566"/>
            <a:ext cx="1974904" cy="193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Apple permitirá que te cobren más por tus suscripciones... ¡Sin que lo  apruebes! | Lifestyle | Cinco Días">
            <a:extLst>
              <a:ext uri="{FF2B5EF4-FFF2-40B4-BE49-F238E27FC236}">
                <a16:creationId xmlns:a16="http://schemas.microsoft.com/office/drawing/2014/main" id="{6DC112BC-7440-4BF1-C70F-F81264B4B9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2" r="21528" b="-1"/>
          <a:stretch/>
        </p:blipFill>
        <p:spPr bwMode="auto">
          <a:xfrm>
            <a:off x="7355906" y="2077939"/>
            <a:ext cx="1974903" cy="193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American Airlines reanudará vuelos a cinco ciudades de Cuba">
            <a:extLst>
              <a:ext uri="{FF2B5EF4-FFF2-40B4-BE49-F238E27FC236}">
                <a16:creationId xmlns:a16="http://schemas.microsoft.com/office/drawing/2014/main" id="{DBDB5DB8-124C-929F-4D8B-EF30F58FD4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84" r="21612" b="-3"/>
          <a:stretch/>
        </p:blipFill>
        <p:spPr bwMode="auto">
          <a:xfrm>
            <a:off x="7355907" y="4016566"/>
            <a:ext cx="1974905" cy="193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Optimization — Descent Algorithms | by Omar Aflak | Towards Data Science">
            <a:extLst>
              <a:ext uri="{FF2B5EF4-FFF2-40B4-BE49-F238E27FC236}">
                <a16:creationId xmlns:a16="http://schemas.microsoft.com/office/drawing/2014/main" id="{D5B3A20C-815F-F9BC-BE54-9731EEC2B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363" y="3607489"/>
            <a:ext cx="3739658" cy="2493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34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AA1B8-C76E-136C-CAEE-7547BFA8A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5;p11">
            <a:extLst>
              <a:ext uri="{FF2B5EF4-FFF2-40B4-BE49-F238E27FC236}">
                <a16:creationId xmlns:a16="http://schemas.microsoft.com/office/drawing/2014/main" id="{DFC5B91B-C0E3-2755-47C8-8CC9273C85BF}"/>
              </a:ext>
            </a:extLst>
          </p:cNvPr>
          <p:cNvSpPr/>
          <p:nvPr/>
        </p:nvSpPr>
        <p:spPr>
          <a:xfrm>
            <a:off x="1328738" y="0"/>
            <a:ext cx="10863262" cy="6858000"/>
          </a:xfrm>
          <a:prstGeom prst="rect">
            <a:avLst/>
          </a:prstGeom>
          <a:solidFill>
            <a:srgbClr val="0000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58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A picture containing outdoor, sky, grass&#10;&#10;Description automatically generated">
            <a:extLst>
              <a:ext uri="{FF2B5EF4-FFF2-40B4-BE49-F238E27FC236}">
                <a16:creationId xmlns:a16="http://schemas.microsoft.com/office/drawing/2014/main" id="{547E6D7A-ED19-9442-94C0-C627B28BC9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2873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4BD8EC-565B-C2B9-77BE-160B54EC3389}"/>
              </a:ext>
            </a:extLst>
          </p:cNvPr>
          <p:cNvSpPr txBox="1"/>
          <p:nvPr/>
        </p:nvSpPr>
        <p:spPr>
          <a:xfrm>
            <a:off x="1702594" y="651743"/>
            <a:ext cx="8040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50" noProof="0" dirty="0">
                <a:solidFill>
                  <a:srgbClr val="F4F4F6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| </a:t>
            </a:r>
            <a:r>
              <a:rPr lang="en-US" sz="3600" b="1" spc="-8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Operations Research today’s impact</a:t>
            </a:r>
            <a:endParaRPr lang="en-US" sz="1200" b="1" spc="-50" noProof="0" dirty="0"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9E66844E-0193-F878-79AF-25496AEA33B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2079" y="214744"/>
            <a:ext cx="1173697" cy="362959"/>
          </a:xfrm>
          <a:prstGeom prst="rect">
            <a:avLst/>
          </a:prstGeom>
        </p:spPr>
      </p:pic>
      <p:pic>
        <p:nvPicPr>
          <p:cNvPr id="2" name="Marcador de contenido 4">
            <a:extLst>
              <a:ext uri="{FF2B5EF4-FFF2-40B4-BE49-F238E27FC236}">
                <a16:creationId xmlns:a16="http://schemas.microsoft.com/office/drawing/2014/main" id="{01EC5257-C087-A46E-9BBA-73D7A4A247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475" y="1849526"/>
            <a:ext cx="7645861" cy="1796777"/>
          </a:xfrm>
          <a:prstGeom prst="rect">
            <a:avLst/>
          </a:prstGeom>
        </p:spPr>
      </p:pic>
      <p:pic>
        <p:nvPicPr>
          <p:cNvPr id="4" name="Imagen 6">
            <a:extLst>
              <a:ext uri="{FF2B5EF4-FFF2-40B4-BE49-F238E27FC236}">
                <a16:creationId xmlns:a16="http://schemas.microsoft.com/office/drawing/2014/main" id="{D78E5F2F-7940-4A52-5D07-862C26049F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5187" y="4672790"/>
            <a:ext cx="7118825" cy="1868691"/>
          </a:xfrm>
          <a:prstGeom prst="rect">
            <a:avLst/>
          </a:prstGeom>
        </p:spPr>
      </p:pic>
      <p:sp>
        <p:nvSpPr>
          <p:cNvPr id="5" name="CuadroTexto 82">
            <a:extLst>
              <a:ext uri="{FF2B5EF4-FFF2-40B4-BE49-F238E27FC236}">
                <a16:creationId xmlns:a16="http://schemas.microsoft.com/office/drawing/2014/main" id="{8ED081F3-3FCE-AB0E-6207-E01D9657109E}"/>
              </a:ext>
            </a:extLst>
          </p:cNvPr>
          <p:cNvSpPr txBox="1"/>
          <p:nvPr/>
        </p:nvSpPr>
        <p:spPr>
          <a:xfrm>
            <a:off x="10290838" y="1554271"/>
            <a:ext cx="16249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Phd</a:t>
            </a:r>
            <a:r>
              <a:rPr lang="es-MX" dirty="0">
                <a:solidFill>
                  <a:schemeClr val="bg1"/>
                </a:solidFill>
              </a:rPr>
              <a:t>. John </a:t>
            </a:r>
            <a:r>
              <a:rPr lang="es-MX" dirty="0" err="1">
                <a:solidFill>
                  <a:schemeClr val="bg1"/>
                </a:solidFill>
              </a:rPr>
              <a:t>Birge</a:t>
            </a:r>
            <a:r>
              <a:rPr lang="es-MX" dirty="0">
                <a:solidFill>
                  <a:schemeClr val="bg1"/>
                </a:solidFill>
              </a:rPr>
              <a:t>, </a:t>
            </a:r>
            <a:r>
              <a:rPr lang="es-MX" sz="1800" dirty="0">
                <a:solidFill>
                  <a:schemeClr val="bg1"/>
                </a:solidFill>
              </a:rPr>
              <a:t>(</a:t>
            </a:r>
            <a:r>
              <a:rPr lang="en-US" sz="1800" dirty="0">
                <a:solidFill>
                  <a:schemeClr val="bg1"/>
                </a:solidFill>
              </a:rPr>
              <a:t>George Bernard Dantzig: The Pioneer of Linear Optimization, Management and Business Review, 2021</a:t>
            </a:r>
            <a:r>
              <a:rPr lang="en-US" sz="1800" dirty="0">
                <a:solidFill>
                  <a:schemeClr val="tx2"/>
                </a:solidFill>
              </a:rPr>
              <a:t>)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9842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BEB9A-7D79-BC7D-8EB9-63CDF913A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5;p11">
            <a:extLst>
              <a:ext uri="{FF2B5EF4-FFF2-40B4-BE49-F238E27FC236}">
                <a16:creationId xmlns:a16="http://schemas.microsoft.com/office/drawing/2014/main" id="{9055B09E-C9C5-4830-2E47-DF0122EE658A}"/>
              </a:ext>
            </a:extLst>
          </p:cNvPr>
          <p:cNvSpPr/>
          <p:nvPr/>
        </p:nvSpPr>
        <p:spPr>
          <a:xfrm>
            <a:off x="1328738" y="0"/>
            <a:ext cx="10863262" cy="6858000"/>
          </a:xfrm>
          <a:prstGeom prst="rect">
            <a:avLst/>
          </a:prstGeom>
          <a:solidFill>
            <a:srgbClr val="0000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58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A picture containing outdoor, sky, grass&#10;&#10;Description automatically generated">
            <a:extLst>
              <a:ext uri="{FF2B5EF4-FFF2-40B4-BE49-F238E27FC236}">
                <a16:creationId xmlns:a16="http://schemas.microsoft.com/office/drawing/2014/main" id="{36954214-FDCF-2C4D-6054-D87592A06EA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2873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3A6512-AC33-5C7C-5010-9054AE93366F}"/>
              </a:ext>
            </a:extLst>
          </p:cNvPr>
          <p:cNvSpPr txBox="1"/>
          <p:nvPr/>
        </p:nvSpPr>
        <p:spPr>
          <a:xfrm>
            <a:off x="1702594" y="651743"/>
            <a:ext cx="8040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50" noProof="0" dirty="0">
                <a:solidFill>
                  <a:srgbClr val="F4F4F6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| </a:t>
            </a:r>
            <a:r>
              <a:rPr lang="en-US" sz="3600" b="1" spc="-8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Operations Research: the origin</a:t>
            </a:r>
            <a:endParaRPr lang="en-US" sz="1200" b="1" spc="-50" noProof="0" dirty="0"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F7BE4FFB-DC43-90F3-2FDD-C8E71FB5A79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2079" y="214744"/>
            <a:ext cx="1173697" cy="362959"/>
          </a:xfrm>
          <a:prstGeom prst="rect">
            <a:avLst/>
          </a:prstGeom>
        </p:spPr>
      </p:pic>
      <p:pic>
        <p:nvPicPr>
          <p:cNvPr id="6" name="Picture 10" descr="John Von Neumann - Biografía, quién es y qué hizo | 2021 | Economipedia">
            <a:extLst>
              <a:ext uri="{FF2B5EF4-FFF2-40B4-BE49-F238E27FC236}">
                <a16:creationId xmlns:a16="http://schemas.microsoft.com/office/drawing/2014/main" id="{F1F77CA9-F99C-E7FF-D9F0-863328A03F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74" r="4" b="3058"/>
          <a:stretch/>
        </p:blipFill>
        <p:spPr bwMode="auto">
          <a:xfrm>
            <a:off x="1481526" y="1949817"/>
            <a:ext cx="2593090" cy="2282749"/>
          </a:xfrm>
          <a:custGeom>
            <a:avLst/>
            <a:gdLst/>
            <a:ahLst/>
            <a:cxnLst/>
            <a:rect l="l" t="t" r="r" b="b"/>
            <a:pathLst>
              <a:path w="4067647" h="3580823">
                <a:moveTo>
                  <a:pt x="0" y="0"/>
                </a:moveTo>
                <a:lnTo>
                  <a:pt x="4067647" y="0"/>
                </a:lnTo>
                <a:lnTo>
                  <a:pt x="4067647" y="3562877"/>
                </a:lnTo>
                <a:lnTo>
                  <a:pt x="3612323" y="3578141"/>
                </a:lnTo>
                <a:cubicBezTo>
                  <a:pt x="2779094" y="3591572"/>
                  <a:pt x="1800050" y="3555887"/>
                  <a:pt x="547602" y="3441294"/>
                </a:cubicBezTo>
                <a:lnTo>
                  <a:pt x="0" y="338787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La leyenda de Dantzig (1939) – NeoTeo">
            <a:extLst>
              <a:ext uri="{FF2B5EF4-FFF2-40B4-BE49-F238E27FC236}">
                <a16:creationId xmlns:a16="http://schemas.microsoft.com/office/drawing/2014/main" id="{FFF805C2-6AA7-BFC9-74CF-28F34EA04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53" r="2" b="13606"/>
          <a:stretch/>
        </p:blipFill>
        <p:spPr bwMode="auto">
          <a:xfrm>
            <a:off x="4074616" y="1961156"/>
            <a:ext cx="2593104" cy="2271410"/>
          </a:xfrm>
          <a:custGeom>
            <a:avLst/>
            <a:gdLst/>
            <a:ahLst/>
            <a:cxnLst/>
            <a:rect l="l" t="t" r="r" b="b"/>
            <a:pathLst>
              <a:path w="4067647" h="3563036">
                <a:moveTo>
                  <a:pt x="0" y="0"/>
                </a:moveTo>
                <a:lnTo>
                  <a:pt x="4067647" y="0"/>
                </a:lnTo>
                <a:lnTo>
                  <a:pt x="4067647" y="3119416"/>
                </a:lnTo>
                <a:lnTo>
                  <a:pt x="3819702" y="3146522"/>
                </a:lnTo>
                <a:cubicBezTo>
                  <a:pt x="2516293" y="3302040"/>
                  <a:pt x="1534273" y="3488330"/>
                  <a:pt x="230865" y="3555296"/>
                </a:cubicBezTo>
                <a:lnTo>
                  <a:pt x="0" y="356303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Bomba Atómica - Qué es, historia, inventor, cómo funciona">
            <a:extLst>
              <a:ext uri="{FF2B5EF4-FFF2-40B4-BE49-F238E27FC236}">
                <a16:creationId xmlns:a16="http://schemas.microsoft.com/office/drawing/2014/main" id="{F4D3A387-8A96-81DD-9E62-C183A08F09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1" r="23819"/>
          <a:stretch/>
        </p:blipFill>
        <p:spPr bwMode="auto">
          <a:xfrm>
            <a:off x="6667706" y="1949817"/>
            <a:ext cx="2583201" cy="1988605"/>
          </a:xfrm>
          <a:custGeom>
            <a:avLst/>
            <a:gdLst/>
            <a:ahLst/>
            <a:cxnLst/>
            <a:rect l="l" t="t" r="r" b="b"/>
            <a:pathLst>
              <a:path w="4052113" h="3119416">
                <a:moveTo>
                  <a:pt x="0" y="0"/>
                </a:moveTo>
                <a:lnTo>
                  <a:pt x="4052113" y="0"/>
                </a:lnTo>
                <a:lnTo>
                  <a:pt x="4052113" y="2908695"/>
                </a:lnTo>
                <a:cubicBezTo>
                  <a:pt x="2528494" y="2908695"/>
                  <a:pt x="1385780" y="2977962"/>
                  <a:pt x="433518" y="3072023"/>
                </a:cubicBezTo>
                <a:lnTo>
                  <a:pt x="0" y="311941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82">
            <a:extLst>
              <a:ext uri="{FF2B5EF4-FFF2-40B4-BE49-F238E27FC236}">
                <a16:creationId xmlns:a16="http://schemas.microsoft.com/office/drawing/2014/main" id="{42BE8D45-05D2-EF3D-DB56-23B91898643F}"/>
              </a:ext>
            </a:extLst>
          </p:cNvPr>
          <p:cNvSpPr txBox="1"/>
          <p:nvPr/>
        </p:nvSpPr>
        <p:spPr>
          <a:xfrm>
            <a:off x="2042160" y="4805471"/>
            <a:ext cx="4470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chemeClr val="bg1"/>
                </a:solidFill>
              </a:rPr>
              <a:t>Mathematical programming, statistics, simulation: the big secret during the 2nd WW</a:t>
            </a:r>
            <a:r>
              <a:rPr lang="es-MX" sz="2800" dirty="0">
                <a:solidFill>
                  <a:schemeClr val="bg1"/>
                </a:solidFill>
              </a:rPr>
              <a:t>.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4114543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42BAF-CF6A-6193-F140-F3A49ACA4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5;p11">
            <a:extLst>
              <a:ext uri="{FF2B5EF4-FFF2-40B4-BE49-F238E27FC236}">
                <a16:creationId xmlns:a16="http://schemas.microsoft.com/office/drawing/2014/main" id="{DF9B39B6-161A-432C-217B-3E005B1B88C0}"/>
              </a:ext>
            </a:extLst>
          </p:cNvPr>
          <p:cNvSpPr/>
          <p:nvPr/>
        </p:nvSpPr>
        <p:spPr>
          <a:xfrm>
            <a:off x="1328738" y="0"/>
            <a:ext cx="10863262" cy="6858000"/>
          </a:xfrm>
          <a:prstGeom prst="rect">
            <a:avLst/>
          </a:prstGeom>
          <a:solidFill>
            <a:srgbClr val="0000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58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A picture containing outdoor, sky, grass&#10;&#10;Description automatically generated">
            <a:extLst>
              <a:ext uri="{FF2B5EF4-FFF2-40B4-BE49-F238E27FC236}">
                <a16:creationId xmlns:a16="http://schemas.microsoft.com/office/drawing/2014/main" id="{676617C7-0303-2E4B-E693-6E7114B9B36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2873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AA50C7-DB27-89CD-33CF-0F4FA7835785}"/>
              </a:ext>
            </a:extLst>
          </p:cNvPr>
          <p:cNvSpPr txBox="1"/>
          <p:nvPr/>
        </p:nvSpPr>
        <p:spPr>
          <a:xfrm>
            <a:off x="1679705" y="396223"/>
            <a:ext cx="87114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50" noProof="0" dirty="0">
                <a:solidFill>
                  <a:srgbClr val="F4F4F6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| </a:t>
            </a:r>
            <a:r>
              <a:rPr lang="en-US" sz="3600" b="1" spc="-8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Operations Research: beyond industry, manufacturing and logistics…</a:t>
            </a:r>
            <a:endParaRPr lang="en-US" sz="1200" b="1" spc="-50" noProof="0" dirty="0"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F56CAAE7-4F58-3CEC-E744-5C4845EF74E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2079" y="214744"/>
            <a:ext cx="1173697" cy="362959"/>
          </a:xfrm>
          <a:prstGeom prst="rect">
            <a:avLst/>
          </a:prstGeom>
        </p:spPr>
      </p:pic>
      <p:pic>
        <p:nvPicPr>
          <p:cNvPr id="2" name="Picture 2" descr="Kickoff NFL 2020: ¿Qué significan los apodos de los 32 equipos de la NFL? |  Marca">
            <a:extLst>
              <a:ext uri="{FF2B5EF4-FFF2-40B4-BE49-F238E27FC236}">
                <a16:creationId xmlns:a16="http://schemas.microsoft.com/office/drawing/2014/main" id="{A40FA529-B5EC-F6E9-7649-2F9F799861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3" r="-5" b="-5"/>
          <a:stretch/>
        </p:blipFill>
        <p:spPr bwMode="auto">
          <a:xfrm>
            <a:off x="1590834" y="1787257"/>
            <a:ext cx="5027422" cy="2977514"/>
          </a:xfrm>
          <a:custGeom>
            <a:avLst/>
            <a:gdLst/>
            <a:ahLst/>
            <a:cxnLst/>
            <a:rect l="l" t="t" r="r" b="b"/>
            <a:pathLst>
              <a:path w="6077804" h="3604514">
                <a:moveTo>
                  <a:pt x="0" y="0"/>
                </a:moveTo>
                <a:lnTo>
                  <a:pt x="6077804" y="0"/>
                </a:lnTo>
                <a:lnTo>
                  <a:pt x="6077804" y="3321937"/>
                </a:lnTo>
                <a:lnTo>
                  <a:pt x="5516914" y="3420963"/>
                </a:lnTo>
                <a:cubicBezTo>
                  <a:pt x="4259631" y="3624720"/>
                  <a:pt x="2876619" y="3710676"/>
                  <a:pt x="550645" y="3402391"/>
                </a:cubicBezTo>
                <a:lnTo>
                  <a:pt x="0" y="332458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NBA: Las 10 estrellas de la NBA que se juegan su estatus la próxima  temporada | Marca">
            <a:extLst>
              <a:ext uri="{FF2B5EF4-FFF2-40B4-BE49-F238E27FC236}">
                <a16:creationId xmlns:a16="http://schemas.microsoft.com/office/drawing/2014/main" id="{AADE90CA-0569-83AA-C0B7-37EE816846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18634"/>
          <a:stretch/>
        </p:blipFill>
        <p:spPr bwMode="auto">
          <a:xfrm>
            <a:off x="6618256" y="1787257"/>
            <a:ext cx="5052332" cy="2744091"/>
          </a:xfrm>
          <a:custGeom>
            <a:avLst/>
            <a:gdLst/>
            <a:ahLst/>
            <a:cxnLst/>
            <a:rect l="l" t="t" r="r" b="b"/>
            <a:pathLst>
              <a:path w="6107918" h="3321937">
                <a:moveTo>
                  <a:pt x="0" y="0"/>
                </a:moveTo>
                <a:lnTo>
                  <a:pt x="6107918" y="0"/>
                </a:lnTo>
                <a:lnTo>
                  <a:pt x="6107918" y="2630869"/>
                </a:lnTo>
                <a:cubicBezTo>
                  <a:pt x="3060680" y="2630869"/>
                  <a:pt x="1537061" y="3032227"/>
                  <a:pt x="13442" y="3319564"/>
                </a:cubicBezTo>
                <a:lnTo>
                  <a:pt x="0" y="332193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6D9A6D-FFD0-96B1-F7F9-6FD35B548949}"/>
              </a:ext>
            </a:extLst>
          </p:cNvPr>
          <p:cNvSpPr txBox="1"/>
          <p:nvPr/>
        </p:nvSpPr>
        <p:spPr>
          <a:xfrm>
            <a:off x="7905007" y="4826675"/>
            <a:ext cx="34239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https://www.youtube.com/watch?v=5dYE5vy6sMY</a:t>
            </a:r>
            <a:endParaRPr lang="es-MX" dirty="0">
              <a:solidFill>
                <a:schemeClr val="bg1"/>
              </a:solidFill>
            </a:endParaRP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https://www.youtube.com/watch?v=oYcRp_8VHjE</a:t>
            </a:r>
            <a:endParaRPr lang="es-MX" dirty="0">
              <a:solidFill>
                <a:schemeClr val="bg1"/>
              </a:solidFill>
            </a:endParaRPr>
          </a:p>
          <a:p>
            <a:endParaRPr lang="es-MX" dirty="0">
              <a:solidFill>
                <a:schemeClr val="bg1"/>
              </a:solidFill>
            </a:endParaRP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43871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9029C-2B4B-A51D-F890-B21B20E4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5;p11">
            <a:extLst>
              <a:ext uri="{FF2B5EF4-FFF2-40B4-BE49-F238E27FC236}">
                <a16:creationId xmlns:a16="http://schemas.microsoft.com/office/drawing/2014/main" id="{B8269FA2-C6CA-9F9D-761E-50EC1790A93E}"/>
              </a:ext>
            </a:extLst>
          </p:cNvPr>
          <p:cNvSpPr/>
          <p:nvPr/>
        </p:nvSpPr>
        <p:spPr>
          <a:xfrm>
            <a:off x="1328738" y="0"/>
            <a:ext cx="10863262" cy="6858000"/>
          </a:xfrm>
          <a:prstGeom prst="rect">
            <a:avLst/>
          </a:prstGeom>
          <a:solidFill>
            <a:srgbClr val="0000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58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A picture containing outdoor, sky, grass&#10;&#10;Description automatically generated">
            <a:extLst>
              <a:ext uri="{FF2B5EF4-FFF2-40B4-BE49-F238E27FC236}">
                <a16:creationId xmlns:a16="http://schemas.microsoft.com/office/drawing/2014/main" id="{A764AE39-281A-6C6A-A712-04EF25B5CE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32873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6459C9-62B7-E430-4B2E-DB677EE50F69}"/>
              </a:ext>
            </a:extLst>
          </p:cNvPr>
          <p:cNvSpPr txBox="1"/>
          <p:nvPr/>
        </p:nvSpPr>
        <p:spPr>
          <a:xfrm>
            <a:off x="1679705" y="396223"/>
            <a:ext cx="87114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50" noProof="0" dirty="0">
                <a:solidFill>
                  <a:srgbClr val="F4F4F6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| </a:t>
            </a:r>
            <a:r>
              <a:rPr lang="en-US" sz="3600" b="1" spc="-80" dirty="0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rPr>
              <a:t>Operations Research: return to the main course</a:t>
            </a:r>
            <a:endParaRPr lang="en-US" sz="1200" b="1" spc="-50" noProof="0" dirty="0">
              <a:latin typeface="Arial" panose="020B0604020202020204" pitchFamily="34" charset="0"/>
              <a:ea typeface="Helvetica Neue Medium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E1F22369-308D-FDDE-D4E6-CF4C03B449C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2079" y="214744"/>
            <a:ext cx="1173697" cy="3629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4FDE2D-D46F-435F-F4E7-DDB5C9F86A72}"/>
              </a:ext>
            </a:extLst>
          </p:cNvPr>
          <p:cNvSpPr txBox="1"/>
          <p:nvPr/>
        </p:nvSpPr>
        <p:spPr>
          <a:xfrm>
            <a:off x="7439342" y="2571750"/>
            <a:ext cx="3423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https://www.youtube.com/watch?v=MGNvEZZ3qPw</a:t>
            </a:r>
            <a:endParaRPr lang="es-MX" dirty="0">
              <a:solidFill>
                <a:schemeClr val="bg1"/>
              </a:solidFill>
            </a:endParaRPr>
          </a:p>
          <a:p>
            <a:endParaRPr lang="es-MX" dirty="0">
              <a:solidFill>
                <a:schemeClr val="bg1"/>
              </a:solidFill>
            </a:endParaRPr>
          </a:p>
          <a:p>
            <a:endParaRPr lang="es-MX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44EFD29-D7DB-1B1E-DAED-5EE3A3F19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714500"/>
            <a:ext cx="3048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62F5C0-DC32-1457-678F-FB4811BC3C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0880" y="3952257"/>
            <a:ext cx="4461369" cy="250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246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331</Words>
  <Application>Microsoft Office PowerPoint</Application>
  <PresentationFormat>Widescreen</PresentationFormat>
  <Paragraphs>55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Gómez</dc:creator>
  <cp:lastModifiedBy>Emmanuel Gómez</cp:lastModifiedBy>
  <cp:revision>4</cp:revision>
  <dcterms:created xsi:type="dcterms:W3CDTF">2025-11-03T19:54:09Z</dcterms:created>
  <dcterms:modified xsi:type="dcterms:W3CDTF">2026-03-24T18:17:50Z</dcterms:modified>
</cp:coreProperties>
</file>